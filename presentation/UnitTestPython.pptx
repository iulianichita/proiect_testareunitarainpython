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aleway" charset="1" panose="00000000000000000000"/>
      <p:regular r:id="rId18"/>
    </p:embeddedFont>
    <p:embeddedFont>
      <p:font typeface="Public Sans 1" charset="1" panose="00000000000000000000"/>
      <p:regular r:id="rId19"/>
    </p:embeddedFont>
    <p:embeddedFont>
      <p:font typeface="Public Sans 1 Bold Italics" charset="1" panose="00000000000000000000"/>
      <p:regular r:id="rId20"/>
    </p:embeddedFont>
    <p:embeddedFont>
      <p:font typeface="Public Sans 1 Bold" charset="1" panose="00000000000000000000"/>
      <p:regular r:id="rId21"/>
    </p:embeddedFont>
    <p:embeddedFont>
      <p:font typeface="Raleway Light Italics" charset="1" panose="00000000000000000000"/>
      <p:regular r:id="rId22"/>
    </p:embeddedFont>
    <p:embeddedFont>
      <p:font typeface="Raleway Bold" charset="1" panose="00000000000000000000"/>
      <p:regular r:id="rId23"/>
    </p:embeddedFont>
    <p:embeddedFont>
      <p:font typeface="Raleway Italics" charset="1" panose="00000000000000000000"/>
      <p:regular r:id="rId24"/>
    </p:embeddedFont>
    <p:embeddedFont>
      <p:font typeface="Public Sans 2" charset="1" panose="00000000000000000000"/>
      <p:regular r:id="rId25"/>
    </p:embeddedFont>
    <p:embeddedFont>
      <p:font typeface="Public Sans 2 Bold" charset="1" panose="00000000000000000000"/>
      <p:regular r:id="rId26"/>
    </p:embeddedFont>
    <p:embeddedFont>
      <p:font typeface="Public Sans 1 Italic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39843" y="5148262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9834" y="1904576"/>
            <a:ext cx="16408332" cy="323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48"/>
              </a:lnSpc>
            </a:pPr>
            <a:r>
              <a:rPr lang="en-US" sz="13459" spc="67">
                <a:solidFill>
                  <a:srgbClr val="DE8B1D"/>
                </a:solidFill>
                <a:latin typeface="Raleway"/>
                <a:ea typeface="Raleway"/>
                <a:cs typeface="Raleway"/>
                <a:sym typeface="Raleway"/>
              </a:rPr>
              <a:t>Testare unitară în Python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6726555"/>
            <a:ext cx="7862435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Cernea Ana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Grigorașcu Andrei-Antonio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Măciucă Emma-Iulia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Năvodaru Denisa-Ștefania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Nichita Iulia-Nicoleta</a:t>
            </a:r>
          </a:p>
          <a:p>
            <a:pPr algn="l">
              <a:lnSpc>
                <a:spcPts val="3450"/>
              </a:lnSpc>
            </a:pPr>
            <a:r>
              <a:rPr lang="en-US" b="true" sz="2300" i="true">
                <a:solidFill>
                  <a:srgbClr val="2B2C30"/>
                </a:solidFill>
                <a:latin typeface="Public Sans 1 Bold Italics"/>
                <a:ea typeface="Public Sans 1 Bold Italics"/>
                <a:cs typeface="Public Sans 1 Bold Italics"/>
                <a:sym typeface="Public Sans 1 Bold Italics"/>
              </a:rPr>
              <a:t>Mai</a:t>
            </a:r>
            <a:r>
              <a:rPr lang="en-US" b="true" sz="2300" i="true">
                <a:solidFill>
                  <a:srgbClr val="2B2C30"/>
                </a:solidFill>
                <a:latin typeface="Public Sans 1 Bold Italics"/>
                <a:ea typeface="Public Sans 1 Bold Italics"/>
                <a:cs typeface="Public Sans 1 Bold Italics"/>
                <a:sym typeface="Public Sans 1 Bold Italics"/>
              </a:rPr>
              <a:t>,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SISTEM REZERVARE A LOCURILOR DIN AVION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505700" y="5883198"/>
            <a:ext cx="3086100" cy="214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Metodă ce verifică dacă locul specificat este disponibil (liber), ce returnează True dacă locul este liber sau False dacă este ocupat.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0" y="3187623"/>
            <a:ext cx="27813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500" i="true" strike="noStrike" u="none">
                <a:solidFill>
                  <a:srgbClr val="2B2C30"/>
                </a:solidFill>
                <a:latin typeface="Raleway Light Italics"/>
                <a:ea typeface="Raleway Light Italics"/>
                <a:cs typeface="Raleway Light Italics"/>
                <a:sym typeface="Raleway Light Italics"/>
              </a:rPr>
              <a:t>.este_loc_disponibil(rând, loc)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05700" y="4121073"/>
            <a:ext cx="32766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VERIFICARE DISPONIBILITATE LOC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6871" y="5854623"/>
            <a:ext cx="3086100" cy="250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Metodă utilizată pentru a rezerva locul specificat în avion pentru un anumit pasager cu specificații de vârstă și posesie bagaj de cală, ce returnează prețul final al biletului.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187623"/>
            <a:ext cx="302617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i="true">
                <a:solidFill>
                  <a:srgbClr val="2B2C30"/>
                </a:solidFill>
                <a:latin typeface="Raleway Light Italics"/>
                <a:ea typeface="Raleway Light Italics"/>
                <a:cs typeface="Raleway Light Italics"/>
                <a:sym typeface="Raleway Light Italics"/>
              </a:rPr>
              <a:t>.rezervă_loc(rând, loc, vârstă, are_bagaj)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871" y="4497311"/>
            <a:ext cx="278564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REZERVARE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LOC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343400" y="5883198"/>
            <a:ext cx="2785647" cy="250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Metodă de determină anularea locului specificat din avion, ce retunează valoarea True dacă operația s-a realizat cu succes sau False dacă locul este deja liber.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43400" y="3187623"/>
            <a:ext cx="27813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500" i="true" strike="noStrike" u="none">
                <a:solidFill>
                  <a:srgbClr val="2B2C30"/>
                </a:solidFill>
                <a:latin typeface="Raleway Light Italics"/>
                <a:ea typeface="Raleway Light Italics"/>
                <a:cs typeface="Raleway Light Italics"/>
                <a:sym typeface="Raleway Light Italics"/>
              </a:rPr>
              <a:t>.anulare_rezervare(rând, loc)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3400" y="4121073"/>
            <a:ext cx="278564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ANULAREA UNEI REZERVĂRI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96600" y="5883198"/>
            <a:ext cx="3086100" cy="10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Metodă ce returnează lista tuturor locurilor libere ca tupluri (rând, loc).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96600" y="3187623"/>
            <a:ext cx="278564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500" i="true" strike="noStrike" u="none">
                <a:solidFill>
                  <a:srgbClr val="2B2C30"/>
                </a:solidFill>
                <a:latin typeface="Raleway Light Italics"/>
                <a:ea typeface="Raleway Light Italics"/>
                <a:cs typeface="Raleway Light Italics"/>
                <a:sym typeface="Raleway Light Italics"/>
              </a:rPr>
              <a:t>.locuri_disponibile()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65938" y="3768648"/>
            <a:ext cx="278564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AFIȘARE LISTĂ LOCURI DISPONIBILE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73200" y="5883198"/>
            <a:ext cx="3086100" cy="10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Metodă ce afișează numărul de locuri disponibile (libere) din avion.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73200" y="3187623"/>
            <a:ext cx="39581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500" i="true" strike="noStrike" u="none">
                <a:solidFill>
                  <a:srgbClr val="2B2C30"/>
                </a:solidFill>
                <a:latin typeface="Raleway Light Italics"/>
                <a:ea typeface="Raleway Light Italics"/>
                <a:cs typeface="Raleway Light Italics"/>
                <a:sym typeface="Raleway Light Italics"/>
              </a:rPr>
              <a:t>.nr_locuri_disponibile()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73200" y="3701973"/>
            <a:ext cx="278564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AFIȘARE NUMĂR LOCURI DISPONIBILE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343400" y="2756663"/>
            <a:ext cx="138677" cy="1386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2756663"/>
            <a:ext cx="138677" cy="13867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20000" y="2756663"/>
            <a:ext cx="138677" cy="13867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96600" y="2756663"/>
            <a:ext cx="138677" cy="13867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173200" y="2756663"/>
            <a:ext cx="138677" cy="138677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127760" y="2821239"/>
            <a:ext cx="17396401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6407" y="2172020"/>
            <a:ext cx="15953207" cy="524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Datele de test sunt generate pe baza </a:t>
            </a:r>
            <a:r>
              <a:rPr lang="en-US" sz="3999" spc="19" b="true">
                <a:solidFill>
                  <a:srgbClr val="2B2C30"/>
                </a:solidFill>
                <a:latin typeface="Raleway Bold"/>
                <a:ea typeface="Raleway Bold"/>
                <a:cs typeface="Raleway Bold"/>
                <a:sym typeface="Raleway Bold"/>
              </a:rPr>
              <a:t>specificației (cerințelor) programului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, structura 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programului nejucând niciun rol.</a:t>
            </a: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Au fost folosite tehnici precum determinarea claselor de echivalență și analiza valorilor de frontieră pentru alegerea eficientă a datelor de test.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Librărie Python utilizată: </a:t>
            </a:r>
            <a:r>
              <a:rPr lang="en-US" sz="3999" i="true" spc="19">
                <a:solidFill>
                  <a:srgbClr val="2B2C3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pytest</a:t>
            </a: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TESTARE FUNCȚIONALĂ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31783" y="522016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7" y="0"/>
                </a:lnTo>
                <a:lnTo>
                  <a:pt x="535737" y="727543"/>
                </a:lnTo>
                <a:lnTo>
                  <a:pt x="0" y="72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720717" y="517230"/>
            <a:ext cx="1682491" cy="107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  <a:p>
            <a:pPr algn="l">
              <a:lnSpc>
                <a:spcPts val="271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DETERMINAREA CLASELOR DE ECHIVALENȚĂ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73540" y="1965957"/>
          <a:ext cx="15940919" cy="7176122"/>
        </p:xfrm>
        <a:graphic>
          <a:graphicData uri="http://schemas.openxmlformats.org/drawingml/2006/table">
            <a:tbl>
              <a:tblPr/>
              <a:tblGrid>
                <a:gridCol w="5313640"/>
                <a:gridCol w="5313640"/>
                <a:gridCol w="5313640"/>
              </a:tblGrid>
              <a:tr h="1070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7F4ED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Metodă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7F4ED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Parametru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7F4ED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Valoare parametru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203344">
                <a:tc rowSpan="4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.rezervă_loc(rând, literă_loc, vârstă, are_bagaj_cală)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business (1-2), economy (3-10),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88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.rezervă_loc(rând, literă_loc, vârstă, are_bagaj_cală)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literă_loc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valoare validă (A-F),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344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.rezervă_loc(rând, literă_loc, vârstă, are_bagaj_cală)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vârstă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infant (0-1), copil (2-12), adult (13-59), senior (&gt;=60),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364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.rezervă_loc(rând, literă_loc, vârstă, are_bagaj_cală)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are_bagaj_cală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DA, NU,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344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.anulează_rezervare(rând, literă_loc)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business (1-2), economy (3-10),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88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.anulează_rezervare(rând, literă_loc)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literă_loc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valoare validă (A-F), valoare invalidă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173540" y="9265905"/>
            <a:ext cx="1594091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8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*au fost efectuate teste și pentru metoda .este_loc_disponibil(rând, literă_loc), similar metodei .anulează_rezervare(rând, literă_loc)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6407" y="2172020"/>
            <a:ext cx="15953207" cy="721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Cazurile de test sunt proiectate pe baza </a:t>
            </a:r>
            <a:r>
              <a:rPr lang="en-US" sz="3999" spc="19" b="true">
                <a:solidFill>
                  <a:srgbClr val="2B2C30"/>
                </a:solidFill>
                <a:latin typeface="Raleway Bold"/>
                <a:ea typeface="Raleway Bold"/>
                <a:cs typeface="Raleway Bold"/>
                <a:sym typeface="Raleway Bold"/>
              </a:rPr>
              <a:t>structurii interne a codului sursă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, fără a lua în considerare specificația (cerințele) programului.</a:t>
            </a: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Pentru a utiliza metode structurale de testare, 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programul poate fi reprezentat sub forma unui graf orientat numit graful de flux de control (</a:t>
            </a:r>
            <a:r>
              <a:rPr lang="en-US" sz="3999" i="true" spc="19">
                <a:solidFill>
                  <a:srgbClr val="2B2C3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Control flow graph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 abreviat </a:t>
            </a:r>
            <a:r>
              <a:rPr lang="en-US" sz="3999" spc="19" b="true">
                <a:solidFill>
                  <a:srgbClr val="2B2C30"/>
                </a:solidFill>
                <a:latin typeface="Raleway Bold"/>
                <a:ea typeface="Raleway Bold"/>
                <a:cs typeface="Raleway Bold"/>
                <a:sym typeface="Raleway Bold"/>
              </a:rPr>
              <a:t>CFG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).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Librărie Python utilizată: </a:t>
            </a:r>
            <a:r>
              <a:rPr lang="en-US" sz="3999" i="true" spc="19">
                <a:solidFill>
                  <a:srgbClr val="2B2C3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unittest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TESTARE STRUCTURALĂ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TESTARE STRUCTURALĂ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6399" y="3020593"/>
            <a:ext cx="5026555" cy="5026555"/>
            <a:chOff x="0" y="0"/>
            <a:chExt cx="4489857" cy="44898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AF7F0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89857" cy="454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30723" y="3020593"/>
            <a:ext cx="5026555" cy="5026555"/>
            <a:chOff x="0" y="0"/>
            <a:chExt cx="4489857" cy="4489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AF7F0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489857" cy="454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95047" y="3020593"/>
            <a:ext cx="5026555" cy="5026555"/>
            <a:chOff x="0" y="0"/>
            <a:chExt cx="4489857" cy="44898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AF7F0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89857" cy="4547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95590" y="3600450"/>
            <a:ext cx="98250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9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{}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5046" y="3600450"/>
            <a:ext cx="101405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9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⧓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19302" y="3600450"/>
            <a:ext cx="92761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90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7198" y="3890010"/>
            <a:ext cx="2936755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ACOPERIRE LA NIVEL DE INSTRUCȚIUNE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46943" y="3890010"/>
            <a:ext cx="2936755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ACOPERIRE LA NIVEL DE CONDIȚIE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69126" y="3890010"/>
            <a:ext cx="2936755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2B2C3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ACOPERIRE LA NIVEL DE DECIZIE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8852" y="5777728"/>
            <a:ext cx="4141647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fiecare</a:t>
            </a: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instrucțiune (nod al grafului) este parcursă măcar o dată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0098" y="5476720"/>
            <a:ext cx="4141647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fiecare</a:t>
            </a: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condiție individuală dintr-o decizie să ia atât valoarea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adevărat, cât și fals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51348" y="5777728"/>
            <a:ext cx="4141647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fiecare</a:t>
            </a: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 ramură a grafului este parcursă măcar o dată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STATEMENT,BRANCH,CONDITION COVERAGE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557279" y="700658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46213" y="695873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99282"/>
            <a:ext cx="14083097" cy="5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Determinare date de test pentru metoda </a:t>
            </a: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(.anulează_rezervare(rând, literă_loc))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60325" y="2575912"/>
          <a:ext cx="15709289" cy="6927178"/>
        </p:xfrm>
        <a:graphic>
          <a:graphicData uri="http://schemas.openxmlformats.org/drawingml/2006/table">
            <a:tbl>
              <a:tblPr/>
              <a:tblGrid>
                <a:gridCol w="5199285"/>
                <a:gridCol w="3955588"/>
                <a:gridCol w="3616398"/>
                <a:gridCol w="2938018"/>
              </a:tblGrid>
              <a:tr h="922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COD SURSĂ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DECIZIE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CONDIȚIE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INSTRUCȚIUNE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if not isinstance(rand, int) or isinstance(rand, bool):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 raise TypeError("Randul trebuie sa fie un numar intreg")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tip invalid </a:t>
                      </a: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rând="1",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rând=True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tip invalid 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7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if not (1 &lt;= rand &lt;= self.NR_RANDURI):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raise ValueError(f"Rand invalid: {rand}.")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valoare invalidă 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rând=0,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rând=11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valoare invalidă rând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if not self.locuri_ocupate[rand - 1][coloana]: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return False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loc deja liber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loc deja liber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loc deja liber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73540" y="9626915"/>
            <a:ext cx="1594091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18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*au fost realizate teste similare pentru toate metodele clasei sistemrezervareavion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MC/DC COVERAGE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557279" y="700658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46213" y="695873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99282"/>
            <a:ext cx="14817513" cy="5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(fiecare condiție poate influența independent rezultat</a:t>
            </a: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ul deciziei din care face parte)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79540" y="3766892"/>
          <a:ext cx="15709289" cy="3570187"/>
        </p:xfrm>
        <a:graphic>
          <a:graphicData uri="http://schemas.openxmlformats.org/drawingml/2006/table">
            <a:tbl>
              <a:tblPr/>
              <a:tblGrid>
                <a:gridCol w="2411826"/>
                <a:gridCol w="5061723"/>
                <a:gridCol w="4744655"/>
                <a:gridCol w="3491085"/>
              </a:tblGrid>
              <a:tr h="922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C1: </a:t>
                      </a:r>
                      <a:r>
                        <a:rPr lang="en-US" sz="2400" spc="192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not isinstance(rand, int)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C2: </a:t>
                      </a:r>
                      <a:r>
                        <a:rPr lang="en-US" sz="2400" spc="192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isinstance(rand, bool)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 spc="192">
                          <a:solidFill>
                            <a:srgbClr val="2B2C30"/>
                          </a:solidFill>
                          <a:latin typeface="Public Sans 1 Bold"/>
                          <a:ea typeface="Public Sans 1 Bold"/>
                          <a:cs typeface="Public Sans 1 Bold"/>
                          <a:sym typeface="Public Sans 1 Bold"/>
                        </a:rPr>
                        <a:t>D1: </a:t>
                      </a:r>
                      <a:r>
                        <a:rPr lang="en-US" sz="2400" spc="192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C1 or C2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R1: rand="1"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False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R2: rand=T</a:t>
                      </a: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False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True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R12: rand=1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False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False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6C92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2B2C30"/>
                          </a:solidFill>
                          <a:latin typeface="Public Sans 1"/>
                          <a:ea typeface="Public Sans 1"/>
                          <a:cs typeface="Public Sans 1"/>
                          <a:sym typeface="Public Sans 1"/>
                        </a:rPr>
                        <a:t>False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B2C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06871" y="7842993"/>
            <a:ext cx="16054626" cy="15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  <a:spcBef>
                <a:spcPct val="0"/>
              </a:spcBef>
            </a:pPr>
            <a:r>
              <a:rPr lang="en-US" sz="2986" spc="1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Perechi MC/DC:</a:t>
            </a:r>
          </a:p>
          <a:p>
            <a:pPr algn="l" marL="644683" indent="-322342" lvl="1">
              <a:lnSpc>
                <a:spcPts val="4180"/>
              </a:lnSpc>
              <a:buFont typeface="Arial"/>
              <a:buChar char="•"/>
            </a:pPr>
            <a:r>
              <a:rPr lang="en-US" sz="2986" spc="1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C1 este demonstrată prin R1 și R12: C2 rămâne False, iar D1 se schimbă din True în False.</a:t>
            </a:r>
          </a:p>
          <a:p>
            <a:pPr algn="l" marL="644683" indent="-322342" lvl="1">
              <a:lnSpc>
                <a:spcPts val="4180"/>
              </a:lnSpc>
              <a:buFont typeface="Arial"/>
              <a:buChar char="•"/>
            </a:pPr>
            <a:r>
              <a:rPr lang="en-US" sz="2986" spc="1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C2 este demonstrată prin R2 și R12: C1 rămâne False, iar D1 se schimbă din True în False.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6871" y="3116996"/>
            <a:ext cx="15073312" cy="51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6" spc="1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Demonstrație (D1 preluată din metoda .rezervă_loc(rând, literă_loc, vârstă, are_bagaj)):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CIRCUITE INDEPENDENTE 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11" y="1723378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76135" y="3060816"/>
            <a:ext cx="5912494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(tipul introdus nu este number)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41042" y="3746616"/>
            <a:ext cx="722857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(valoarea introdusă nu este între 1 și 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76135" y="4553429"/>
            <a:ext cx="5912494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(tipul introdus nu este literă)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1042" y="5220179"/>
            <a:ext cx="722857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(valoarea introdusă nu este între A și F)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6135" y="5944543"/>
            <a:ext cx="5912494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(tipul introdus nu este number)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1042" y="6795778"/>
            <a:ext cx="722857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(valoarea introdusă este negativă)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6135" y="7483239"/>
            <a:ext cx="5912494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(tipul introdus nu este boolean)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6135" y="2619985"/>
            <a:ext cx="5912494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b="true" sz="3230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Tip invalid rând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41042" y="3309699"/>
            <a:ext cx="722857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Valoare invalidă rând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6135" y="4111614"/>
            <a:ext cx="5912494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b="true" sz="3230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Tip invalid literă_loc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41042" y="4778364"/>
            <a:ext cx="722857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Valoare invalidă literă_loc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76135" y="5512524"/>
            <a:ext cx="5912494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b="true" sz="3230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Tip invalid vârstă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41042" y="6309541"/>
            <a:ext cx="722857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Valoare invalidă vârstă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76135" y="7002090"/>
            <a:ext cx="5912494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b="true" sz="3230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Tip invalid are_bagaj_cală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41042" y="7689551"/>
            <a:ext cx="722857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Locul ales este ocupat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11" y="1833324"/>
            <a:ext cx="920734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(.rezervă_loc(rând, literă_loc, vârstă, are_bagaj_cală))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99674" y="2778210"/>
            <a:ext cx="244995" cy="6810535"/>
            <a:chOff x="0" y="0"/>
            <a:chExt cx="326660" cy="9080713"/>
          </a:xfrm>
        </p:grpSpPr>
        <p:sp>
          <p:nvSpPr>
            <p:cNvPr name="AutoShape 23" id="23"/>
            <p:cNvSpPr/>
            <p:nvPr/>
          </p:nvSpPr>
          <p:spPr>
            <a:xfrm flipH="true" flipV="true">
              <a:off x="163513" y="163147"/>
              <a:ext cx="0" cy="8602200"/>
            </a:xfrm>
            <a:prstGeom prst="line">
              <a:avLst/>
            </a:prstGeom>
            <a:ln cap="flat" w="508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366" y="973398"/>
              <a:ext cx="326294" cy="32629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66" y="2921386"/>
              <a:ext cx="326294" cy="326294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66" y="3895379"/>
              <a:ext cx="326294" cy="326294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4869373"/>
              <a:ext cx="326294" cy="326294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326294" cy="326294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1947392"/>
              <a:ext cx="326294" cy="326294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5843366"/>
              <a:ext cx="326294" cy="326294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66" y="6817360"/>
              <a:ext cx="326294" cy="326294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66" y="7791354"/>
              <a:ext cx="326294" cy="326294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8754419"/>
              <a:ext cx="326294" cy="326294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C30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2178597" y="8468821"/>
            <a:ext cx="641003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Locul ales provoacă dezechilibru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41042" y="9182100"/>
            <a:ext cx="7228572" cy="56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2B2C3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Rezervare validă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11" y="8975788"/>
            <a:ext cx="747566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6"/>
              </a:lnSpc>
            </a:pPr>
            <a:r>
              <a:rPr lang="en-US" sz="2100">
                <a:solidFill>
                  <a:srgbClr val="2B2C30"/>
                </a:solidFill>
                <a:latin typeface="Public Sans 2"/>
                <a:ea typeface="Public Sans 2"/>
                <a:cs typeface="Public Sans 2"/>
                <a:sym typeface="Public Sans 2"/>
              </a:rPr>
              <a:t>(diferența între nr. locuri stânga și nr. locuri dreapta este &gt;3 )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06871" y="9900140"/>
            <a:ext cx="12921615" cy="34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  <a:spcBef>
                <a:spcPct val="0"/>
              </a:spcBef>
            </a:pPr>
            <a:r>
              <a:rPr lang="en-US" sz="1986" spc="9">
                <a:solidFill>
                  <a:srgbClr val="2B2C30"/>
                </a:solidFill>
                <a:latin typeface="Public Sans 1"/>
                <a:ea typeface="Public Sans 1"/>
                <a:cs typeface="Public Sans 1"/>
                <a:sym typeface="Public Sans 1"/>
              </a:rPr>
              <a:t>*abordare similară pentru metodele .anulează_rezervare(rând, literă_loc) și .locuri_disponibile(rând, literă_loc)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6407" y="2172020"/>
            <a:ext cx="15953207" cy="59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Librărie Python utilizată: </a:t>
            </a:r>
            <a:r>
              <a:rPr lang="en-US" sz="3999" i="true" spc="19">
                <a:solidFill>
                  <a:srgbClr val="2B2C3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cosmic-ray</a:t>
            </a: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Avantaje cosmic-ray: 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acoperire mai mare (generarea mai multor mutații potențiale)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detecție extinsă a mutanților (izolează și elimină automat mutațiile care generează erori sau care blochează execuția)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reducerea timpului de rulare prin execuție paralelă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fișier de configurare flexibil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MUTATION TESTING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6407" y="2172020"/>
            <a:ext cx="15953207" cy="721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Modificări la clasa originală: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odificarea pragului pentru echilibru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modificarea prețurilor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număr de rânduri/coloane alterat</a:t>
            </a: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Teste folosite pentru a omorî mutanții: funcționale, de validare, boundary testing, parametrizate, pentru mutanți specifici</a:t>
            </a:r>
          </a:p>
          <a:p>
            <a:pPr algn="l">
              <a:lnSpc>
                <a:spcPts val="5199"/>
              </a:lnSpc>
            </a:pPr>
          </a:p>
          <a:p>
            <a:pPr algn="l">
              <a:lnSpc>
                <a:spcPts val="5199"/>
              </a:lnSpc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Rezultate: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inițial 23 teste: 136/459 mutanți rămași în viață</a:t>
            </a:r>
          </a:p>
          <a:p>
            <a:pPr algn="l" marL="863599" indent="-431800" lvl="1">
              <a:lnSpc>
                <a:spcPts val="5199"/>
              </a:lnSpc>
              <a:buFont typeface="Arial"/>
              <a:buChar char="•"/>
            </a:pPr>
            <a:r>
              <a:rPr lang="en-US" sz="3999" spc="1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51 teste: 0 mutanți rămași în viață</a:t>
            </a: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DE8B1D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MUTATION TESTING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3162375"/>
            <a:ext cx="16408332" cy="125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 spc="49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Mulțumim!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8917305"/>
            <a:ext cx="7862435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i="true">
                <a:solidFill>
                  <a:srgbClr val="2B2C30"/>
                </a:solidFill>
                <a:latin typeface="Public Sans 1 Italics"/>
                <a:ea typeface="Public Sans 1 Italics"/>
                <a:cs typeface="Public Sans 1 Italics"/>
                <a:sym typeface="Public Sans 1 Italics"/>
              </a:rPr>
              <a:t>Mai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90680" y="8611696"/>
            <a:ext cx="1682491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Unit test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Raleway"/>
                <a:ea typeface="Raleway"/>
                <a:cs typeface="Raleway"/>
                <a:sym typeface="Raleway"/>
              </a:rPr>
              <a:t>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DAHJKPMdulU</dc:identifier>
  <dcterms:modified xsi:type="dcterms:W3CDTF">2011-08-01T06:04:30Z</dcterms:modified>
  <cp:revision>1</cp:revision>
  <dc:title>UnitTestPython</dc:title>
</cp:coreProperties>
</file>